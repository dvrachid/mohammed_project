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1488" y="-2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63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conf/logo_f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-39121"/>
            <a:ext cx="2103120" cy="583383"/>
          </a:xfrm>
          <a:prstGeom prst="rect">
            <a:avLst/>
          </a:prstGeom>
        </p:spPr>
      </p:pic>
      <p:pic>
        <p:nvPicPr>
          <p:cNvPr id="5" name="Image 1" descr="/home/claude/conf/logo_asso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345" y="43397"/>
            <a:ext cx="1218531" cy="4874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566928"/>
            <a:ext cx="7562088" cy="0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566928"/>
            <a:ext cx="7562088" cy="2606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Shape 5"/>
          <p:cNvSpPr/>
          <p:nvPr/>
        </p:nvSpPr>
        <p:spPr>
          <a:xfrm>
            <a:off x="-640080" y="1847088"/>
            <a:ext cx="1554480" cy="1554480"/>
          </a:xfrm>
          <a:prstGeom prst="ellipse">
            <a:avLst/>
          </a:prstGeom>
          <a:solidFill>
            <a:srgbClr val="1C8C99">
              <a:alpha val="4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11480" y="822960"/>
            <a:ext cx="6739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Sciences, </a:t>
            </a:r>
            <a:r>
              <a:rPr lang="en-US" sz="1050" b="1" kern="0" spc="100" dirty="0" err="1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Tetouan</a:t>
            </a:r>
            <a:r>
              <a:rPr lang="en-US" sz="1050" b="1" kern="0" spc="100" dirty="0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050" b="1" kern="0" spc="100" dirty="0" err="1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Abdelmalek</a:t>
            </a:r>
            <a:r>
              <a:rPr lang="en-US" sz="1050" b="1" kern="0" spc="100" dirty="0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kern="0" spc="100" dirty="0" err="1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Essaâdi</a:t>
            </a:r>
            <a:r>
              <a:rPr lang="en-US" sz="1050" b="1" kern="0" spc="100" dirty="0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University, Morocco.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5760" y="1133856"/>
            <a:ext cx="6830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ICETEI 2026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457200" y="1828800"/>
            <a:ext cx="6647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Emerging Technologies, Engineering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Interdisciplinary Innovation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2377440"/>
            <a:ext cx="6647688" cy="329184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2377440"/>
            <a:ext cx="6647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Knowledge, Technology and Innovation for a Sustainable Future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729484" y="27432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2729484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INDEXED IN SCOPUS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" y="333756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CONFERENCE MAIN TOPICS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11480" y="3685032"/>
            <a:ext cx="325526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0352" y="3803904"/>
            <a:ext cx="329184" cy="329184"/>
          </a:xfrm>
          <a:prstGeom prst="ellipse">
            <a:avLst/>
          </a:prstGeom>
          <a:solidFill>
            <a:srgbClr val="0E4D64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" y="3863340"/>
            <a:ext cx="205740" cy="2057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739896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7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Computer Science &amp; Digital Technologies</a:t>
            </a:r>
            <a:endParaRPr lang="en-US" sz="870" dirty="0"/>
          </a:p>
        </p:txBody>
      </p:sp>
      <p:sp>
        <p:nvSpPr>
          <p:cNvPr id="22" name="Text 17"/>
          <p:cNvSpPr/>
          <p:nvPr/>
        </p:nvSpPr>
        <p:spPr>
          <a:xfrm>
            <a:off x="530352" y="4160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· Data Science &amp; Big Data · Cybersecurity · Cloud/Edge Computing · IoT · Computer Vision · Software Eng. · Digital Transformation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3895344" y="3685032"/>
            <a:ext cx="325526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014216" y="3803904"/>
            <a:ext cx="329184" cy="329184"/>
          </a:xfrm>
          <a:prstGeom prst="ellipse">
            <a:avLst/>
          </a:prstGeom>
          <a:solidFill>
            <a:srgbClr val="1C8C99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3652" y="3863340"/>
            <a:ext cx="205740" cy="2057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43984" y="3739896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7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Electrical Eng., Electronics &amp; Energy Systems</a:t>
            </a:r>
            <a:endParaRPr lang="en-US" sz="870" dirty="0"/>
          </a:p>
        </p:txBody>
      </p:sp>
      <p:sp>
        <p:nvSpPr>
          <p:cNvPr id="27" name="Text 21"/>
          <p:cNvSpPr/>
          <p:nvPr/>
        </p:nvSpPr>
        <p:spPr>
          <a:xfrm>
            <a:off x="4014216" y="4160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Systems · Smart Grids · Renewable Energy · Energy Storage · Power Electronics · Embedded Systems · Signal Processing · Communications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411480" y="4937760"/>
            <a:ext cx="325526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30352" y="5056632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" y="5116068"/>
            <a:ext cx="205740" cy="2057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0120" y="4992624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7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Mechanical, Industrial &amp; Manufacturing Eng.</a:t>
            </a:r>
            <a:endParaRPr lang="en-US" sz="870" dirty="0"/>
          </a:p>
        </p:txBody>
      </p:sp>
      <p:sp>
        <p:nvSpPr>
          <p:cNvPr id="32" name="Text 25"/>
          <p:cNvSpPr/>
          <p:nvPr/>
        </p:nvSpPr>
        <p:spPr>
          <a:xfrm>
            <a:off x="530352" y="54132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Systems · Industry 4.0/5.0 · Robotics &amp; Automation · Mechatronics · Product Design · Additive Manufacturing · Reliability · Optimization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3895344" y="4937760"/>
            <a:ext cx="325526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014216" y="5056632"/>
            <a:ext cx="329184" cy="329184"/>
          </a:xfrm>
          <a:prstGeom prst="ellipse">
            <a:avLst/>
          </a:prstGeom>
          <a:solidFill>
            <a:srgbClr val="0E4D64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3652" y="5116068"/>
            <a:ext cx="205740" cy="2057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443984" y="4992624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7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 — Applied Sciences &amp; Advanced Modeling</a:t>
            </a:r>
            <a:endParaRPr lang="en-US" sz="870" dirty="0"/>
          </a:p>
        </p:txBody>
      </p:sp>
      <p:sp>
        <p:nvSpPr>
          <p:cNvPr id="37" name="Text 29"/>
          <p:cNvSpPr/>
          <p:nvPr/>
        </p:nvSpPr>
        <p:spPr>
          <a:xfrm>
            <a:off x="4014216" y="54132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Physics &amp; Maths · Numerical Methods · Optimization · Computational Sciences · Modeling &amp; Simulation · Digital Twins · Multi-Physics Systems</a:t>
            </a:r>
            <a:endParaRPr lang="en-US" sz="700" dirty="0"/>
          </a:p>
        </p:txBody>
      </p:sp>
      <p:sp>
        <p:nvSpPr>
          <p:cNvPr id="38" name="Shape 30"/>
          <p:cNvSpPr/>
          <p:nvPr/>
        </p:nvSpPr>
        <p:spPr>
          <a:xfrm>
            <a:off x="411480" y="6190488"/>
            <a:ext cx="325526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530352" y="6309360"/>
            <a:ext cx="329184" cy="329184"/>
          </a:xfrm>
          <a:prstGeom prst="ellipse">
            <a:avLst/>
          </a:prstGeom>
          <a:solidFill>
            <a:srgbClr val="1C8C99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788" y="6368796"/>
            <a:ext cx="205740" cy="20574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60120" y="624535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7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5 — Sustainable Development &amp; Environmental Systems</a:t>
            </a:r>
            <a:endParaRPr lang="en-US" sz="870" dirty="0"/>
          </a:p>
        </p:txBody>
      </p:sp>
      <p:sp>
        <p:nvSpPr>
          <p:cNvPr id="42" name="Text 33"/>
          <p:cNvSpPr/>
          <p:nvPr/>
        </p:nvSpPr>
        <p:spPr>
          <a:xfrm>
            <a:off x="530352" y="666597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· Environmental Eng. · Climate Adaptation · Circular Economy · Green Technologies · Water Resources · Sustainable Mobility</a:t>
            </a:r>
            <a:endParaRPr lang="en-US" sz="700" dirty="0"/>
          </a:p>
        </p:txBody>
      </p:sp>
      <p:sp>
        <p:nvSpPr>
          <p:cNvPr id="43" name="Shape 34"/>
          <p:cNvSpPr/>
          <p:nvPr/>
        </p:nvSpPr>
        <p:spPr>
          <a:xfrm>
            <a:off x="3895344" y="6190488"/>
            <a:ext cx="325526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4014216" y="6309360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3652" y="6368796"/>
            <a:ext cx="205740" cy="20574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4443984" y="624535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7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6 — Logistics, Management &amp; Interdisciplinary Innovation</a:t>
            </a:r>
            <a:endParaRPr lang="en-US" sz="870" dirty="0"/>
          </a:p>
        </p:txBody>
      </p:sp>
      <p:sp>
        <p:nvSpPr>
          <p:cNvPr id="47" name="Text 37"/>
          <p:cNvSpPr/>
          <p:nvPr/>
        </p:nvSpPr>
        <p:spPr>
          <a:xfrm>
            <a:off x="4014216" y="666597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Smart Logistics · Operations Research · Decision Support · Project &amp; Tech. Management · Innovation &amp; Entrepreneurship</a:t>
            </a:r>
            <a:endParaRPr lang="en-US" sz="700" dirty="0"/>
          </a:p>
        </p:txBody>
      </p:sp>
      <p:sp>
        <p:nvSpPr>
          <p:cNvPr id="48" name="Shape 38"/>
          <p:cNvSpPr/>
          <p:nvPr/>
        </p:nvSpPr>
        <p:spPr>
          <a:xfrm>
            <a:off x="411480" y="7516368"/>
            <a:ext cx="3232404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411480" y="7516368"/>
            <a:ext cx="3232404" cy="27432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50" name="Text 40"/>
          <p:cNvSpPr/>
          <p:nvPr/>
        </p:nvSpPr>
        <p:spPr>
          <a:xfrm>
            <a:off x="411480" y="7516368"/>
            <a:ext cx="3232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OF THE CONFERENCE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548640" y="7900416"/>
            <a:ext cx="2958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Lahlaouti Mohammed Lhassane</a:t>
            </a:r>
            <a:endParaRPr lang="en-US" sz="9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Essaouini Hilal</a:t>
            </a:r>
            <a:endParaRPr lang="en-US" sz="9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Bousla Mohamed</a:t>
            </a:r>
            <a:endParaRPr lang="en-US" sz="9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Sciences, </a:t>
            </a:r>
            <a:r>
              <a:rPr lang="en-US" sz="930" i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Tetouan</a:t>
            </a:r>
            <a:r>
              <a:rPr lang="en-US" sz="93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i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Abdelmalek</a:t>
            </a:r>
            <a:r>
              <a:rPr lang="en-US" sz="93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i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Essaâdi</a:t>
            </a:r>
            <a:r>
              <a:rPr lang="en-US" sz="93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University,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Morocco.</a:t>
            </a:r>
          </a:p>
        </p:txBody>
      </p:sp>
      <p:sp>
        <p:nvSpPr>
          <p:cNvPr id="52" name="Shape 42"/>
          <p:cNvSpPr/>
          <p:nvPr/>
        </p:nvSpPr>
        <p:spPr>
          <a:xfrm>
            <a:off x="3918204" y="7516368"/>
            <a:ext cx="3232404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B2B3A">
                <a:alpha val="12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3918204" y="7516368"/>
            <a:ext cx="3232404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54" name="Text 44"/>
          <p:cNvSpPr/>
          <p:nvPr/>
        </p:nvSpPr>
        <p:spPr>
          <a:xfrm>
            <a:off x="3918204" y="7516368"/>
            <a:ext cx="3232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DATES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4055364" y="7900416"/>
            <a:ext cx="29580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submission deadline</a:t>
            </a:r>
            <a:endParaRPr lang="en-US" sz="730" dirty="0"/>
          </a:p>
        </p:txBody>
      </p:sp>
      <p:sp>
        <p:nvSpPr>
          <p:cNvPr id="56" name="Text 46"/>
          <p:cNvSpPr/>
          <p:nvPr/>
        </p:nvSpPr>
        <p:spPr>
          <a:xfrm>
            <a:off x="4055364" y="8028432"/>
            <a:ext cx="29580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30, 2026</a:t>
            </a:r>
            <a:endParaRPr lang="en-US" sz="900" dirty="0"/>
          </a:p>
        </p:txBody>
      </p:sp>
      <p:sp>
        <p:nvSpPr>
          <p:cNvPr id="57" name="Text 47"/>
          <p:cNvSpPr/>
          <p:nvPr/>
        </p:nvSpPr>
        <p:spPr>
          <a:xfrm>
            <a:off x="4055364" y="8183880"/>
            <a:ext cx="29580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of acceptance</a:t>
            </a:r>
            <a:endParaRPr lang="en-US" sz="730" dirty="0"/>
          </a:p>
        </p:txBody>
      </p:sp>
      <p:sp>
        <p:nvSpPr>
          <p:cNvPr id="58" name="Text 48"/>
          <p:cNvSpPr/>
          <p:nvPr/>
        </p:nvSpPr>
        <p:spPr>
          <a:xfrm>
            <a:off x="4055364" y="8311896"/>
            <a:ext cx="29580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30, 2026</a:t>
            </a:r>
            <a:endParaRPr lang="en-US" sz="900" dirty="0"/>
          </a:p>
        </p:txBody>
      </p:sp>
      <p:sp>
        <p:nvSpPr>
          <p:cNvPr id="59" name="Text 49"/>
          <p:cNvSpPr/>
          <p:nvPr/>
        </p:nvSpPr>
        <p:spPr>
          <a:xfrm>
            <a:off x="4055364" y="8467344"/>
            <a:ext cx="29580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Camera-ready &amp; registration</a:t>
            </a:r>
            <a:endParaRPr lang="en-US" sz="730" dirty="0"/>
          </a:p>
        </p:txBody>
      </p:sp>
      <p:sp>
        <p:nvSpPr>
          <p:cNvPr id="60" name="Text 50"/>
          <p:cNvSpPr/>
          <p:nvPr/>
        </p:nvSpPr>
        <p:spPr>
          <a:xfrm>
            <a:off x="4055364" y="8595360"/>
            <a:ext cx="29580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30, 2026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4055364" y="8750808"/>
            <a:ext cx="29580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445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730" dirty="0"/>
          </a:p>
        </p:txBody>
      </p:sp>
      <p:sp>
        <p:nvSpPr>
          <p:cNvPr id="62" name="Text 52"/>
          <p:cNvSpPr/>
          <p:nvPr/>
        </p:nvSpPr>
        <p:spPr>
          <a:xfrm>
            <a:off x="4055364" y="8878824"/>
            <a:ext cx="29580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20-21, 2026</a:t>
            </a:r>
            <a:endParaRPr lang="en-US" sz="900" dirty="0"/>
          </a:p>
        </p:txBody>
      </p:sp>
      <p:sp>
        <p:nvSpPr>
          <p:cNvPr id="63" name="Shape 53"/>
          <p:cNvSpPr/>
          <p:nvPr/>
        </p:nvSpPr>
        <p:spPr>
          <a:xfrm>
            <a:off x="0" y="9217152"/>
            <a:ext cx="7562088" cy="1472184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4999" y="9400032"/>
            <a:ext cx="237744" cy="237744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411480" y="9674352"/>
            <a:ext cx="16847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700" dirty="0"/>
          </a:p>
        </p:txBody>
      </p:sp>
      <p:sp>
        <p:nvSpPr>
          <p:cNvPr id="66" name="Text 55"/>
          <p:cNvSpPr/>
          <p:nvPr/>
        </p:nvSpPr>
        <p:spPr>
          <a:xfrm>
            <a:off x="411480" y="9829800"/>
            <a:ext cx="1684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20-21, 2026</a:t>
            </a:r>
            <a:endParaRPr lang="en-US" sz="800" dirty="0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9781" y="9400032"/>
            <a:ext cx="237744" cy="237744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2096262" y="9674352"/>
            <a:ext cx="16847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</a:t>
            </a:r>
            <a:endParaRPr lang="en-US" sz="700" dirty="0"/>
          </a:p>
        </p:txBody>
      </p:sp>
      <p:sp>
        <p:nvSpPr>
          <p:cNvPr id="69" name="Text 57"/>
          <p:cNvSpPr/>
          <p:nvPr/>
        </p:nvSpPr>
        <p:spPr>
          <a:xfrm>
            <a:off x="2096262" y="9829800"/>
            <a:ext cx="1684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Sciences, </a:t>
            </a:r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Tetouan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4563" y="9400032"/>
            <a:ext cx="237744" cy="237744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3781044" y="9674352"/>
            <a:ext cx="16847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700" dirty="0"/>
          </a:p>
        </p:txBody>
      </p:sp>
      <p:sp>
        <p:nvSpPr>
          <p:cNvPr id="72" name="Text 59"/>
          <p:cNvSpPr/>
          <p:nvPr/>
        </p:nvSpPr>
        <p:spPr>
          <a:xfrm>
            <a:off x="3781044" y="9829800"/>
            <a:ext cx="1684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 / Hybride</a:t>
            </a:r>
            <a:endParaRPr lang="en-US" sz="800" dirty="0"/>
          </a:p>
        </p:txBody>
      </p:sp>
      <p:pic>
        <p:nvPicPr>
          <p:cNvPr id="7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9345" y="9400032"/>
            <a:ext cx="237744" cy="237744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5465826" y="9674352"/>
            <a:ext cx="16847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ORGANISÉ PAR</a:t>
            </a:r>
            <a:endParaRPr lang="en-US" sz="700" dirty="0"/>
          </a:p>
        </p:txBody>
      </p:sp>
      <p:sp>
        <p:nvSpPr>
          <p:cNvPr id="75" name="Text 61"/>
          <p:cNvSpPr/>
          <p:nvPr/>
        </p:nvSpPr>
        <p:spPr>
          <a:xfrm>
            <a:off x="5465826" y="9829800"/>
            <a:ext cx="1684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Abdelmalek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Essaâdi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</a:t>
            </a:r>
            <a:endParaRPr lang="en-US" sz="800" dirty="0"/>
          </a:p>
        </p:txBody>
      </p:sp>
      <p:sp>
        <p:nvSpPr>
          <p:cNvPr id="76" name="Text 62"/>
          <p:cNvSpPr/>
          <p:nvPr/>
        </p:nvSpPr>
        <p:spPr>
          <a:xfrm>
            <a:off x="411480" y="10168128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i="1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à communications ouvert — Soumissions, dates clés et modalités sur le site officiel de la conférence</a:t>
            </a:r>
            <a:endParaRPr lang="en-US" sz="830" dirty="0"/>
          </a:p>
        </p:txBody>
      </p:sp>
      <p:sp>
        <p:nvSpPr>
          <p:cNvPr id="77" name="Text 63"/>
          <p:cNvSpPr/>
          <p:nvPr/>
        </p:nvSpPr>
        <p:spPr>
          <a:xfrm>
            <a:off x="411480" y="10405872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www.icetei2027.org   |   icetei2027@fst.uae.ac.ma</a:t>
            </a:r>
            <a:endParaRPr lang="en-US" sz="90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97ECF5B-09A8-48FB-A15E-4AD6472444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2503" y="-18256"/>
            <a:ext cx="1808202" cy="5774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340</Words>
  <Application>Microsoft Office PowerPoint</Application>
  <PresentationFormat>Personnalisé</PresentationFormat>
  <Paragraphs>46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ICETEI 2027</dc:title>
  <dc:subject>PptxGenJS Presentation</dc:subject>
  <dc:creator>Faculté des Sciences de Tétouan</dc:creator>
  <cp:lastModifiedBy>Mohamed BOUSLA</cp:lastModifiedBy>
  <cp:revision>3</cp:revision>
  <dcterms:created xsi:type="dcterms:W3CDTF">2026-06-20T23:53:49Z</dcterms:created>
  <dcterms:modified xsi:type="dcterms:W3CDTF">2026-06-23T18:25:44Z</dcterms:modified>
</cp:coreProperties>
</file>